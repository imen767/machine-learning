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pYy0WtnQAKOuPuU56LkuhsvT9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DF725C-ECBD-4685-A784-79A9D2A3A350}">
  <a:tblStyle styleId="{70DF725C-ECBD-4685-A784-79A9D2A3A3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82880" y="91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0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285232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541264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797296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053328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309360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565392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21424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COMPORTEMENTALE</a:t>
            </a:r>
            <a:b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CLIENTÈLE RETAIL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Clustering • Classification • Régression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1828800" y="329184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présenté</a:t>
            </a:r>
            <a:r>
              <a:rPr lang="en-US" sz="17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0" i="0" lang="en-US" sz="1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par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</a:t>
            </a:r>
            <a:r>
              <a:rPr lang="en-US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men Abdelmoula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TABLE DES MATIÈRES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1280160"/>
            <a:ext cx="2468880" cy="137160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13258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1737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017520" y="1280160"/>
            <a:ext cx="2468880" cy="137160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108960" y="13258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108960" y="1737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 données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669280" y="1280160"/>
            <a:ext cx="2468880" cy="137160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760720" y="13258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760720" y="1737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65760" y="2834640"/>
            <a:ext cx="2468880" cy="137160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57200" y="28803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57200" y="32918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017520" y="2834640"/>
            <a:ext cx="2468880" cy="137160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108960" y="28803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108960" y="32918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760720" y="28803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760720" y="32918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Compréhension du problème: Analyse du Churn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74320" y="1051560"/>
            <a:ext cx="54864" cy="2194560"/>
          </a:xfrm>
          <a:prstGeom prst="rect">
            <a:avLst/>
          </a:prstGeom>
          <a:solidFill>
            <a:srgbClr val="2196C9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57200" y="10515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Contexte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Entreprise e-commerce de cadeaux souhaitant mieux comprendre sa clientèle.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Objectifs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Personnaliser les stratégies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Réduire le taux de départ des clients (churn)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Optimiser le chiffre d'affaires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760720" y="1188720"/>
            <a:ext cx="301752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897880" y="12344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4 372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995160" y="13716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760720" y="2194560"/>
            <a:ext cx="301752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897880" y="22402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995160" y="2377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initiales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760720" y="3200400"/>
            <a:ext cx="301752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897880" y="324612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33%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995160" y="3383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Taux de Churn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Synthèse des Features du 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{70DF725C-ECBD-4685-A784-79A9D2A3A350}</a:tableStyleId>
              </a:tblPr>
              <a:tblGrid>
                <a:gridCol w="1645925"/>
                <a:gridCol w="822950"/>
                <a:gridCol w="2743200"/>
                <a:gridCol w="3383275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Problème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Jours depuis dernier achat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commandes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MonetaryTotal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Somme totale dépensée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Âge estimé client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manquants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SupportTickets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Tickets support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 999 aberrants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SatisfactionScore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 satisfaction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 0, 99 aberrants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Binaire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Indicateur départ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67% fidèles / 33% partis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Exploration et Prétraitement des Données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4320" y="109728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65760" y="11704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 Valeurs manquantes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50876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 (30%), AvgDaysBetween (1.8%)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Imputation par médiane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00400" y="109728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91840" y="11704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 Valeurs aberrantes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291840" y="150876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SupportTickets (-1, 999)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Satisfaction (-1, 0, 99) → NaN + médiane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26480" y="109728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217920" y="11704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 Format inconsistant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217920" y="150876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RegistrationDate → Parsing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RegYear, RegMonth, RegDay, RegWeekday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74320" y="274320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6576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 Feature inutile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315468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Newsletter (100% constant)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Suppression directe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00400" y="274320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29184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🌐 Données brutes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291840" y="315468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LastLoginIP →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IP_FirstOctet, IP_IsPrivate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26480" y="2743200"/>
            <a:ext cx="2743200" cy="1463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21792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 Déséquilibre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217920" y="315468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67% fidèles / 33% partis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class_weight='balanced'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Encoding &amp; Feature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" y="1051560"/>
            <a:ext cx="4114800" cy="3383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Encoding des Variables Catégorielles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1554480"/>
            <a:ext cx="38404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Ordinal Encoding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LoyaltyLevel, RFMSegment... (ordre logique)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One-Hot Encoding 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CustomerType, FavoriteSeason, Gender... (sans ordre)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Target Encoding 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Country (37+ valeurs) → taux de churn moyen par pays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63440" y="1051560"/>
            <a:ext cx="4206240" cy="3383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754880" y="15087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MonetaryPerDay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MonetaryTotal / (Recency + 1)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AvgBasketValue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MonetaryTotal / (Frequency + 1)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754880" y="2606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TenureRatio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Recency / (CustomerTenureDays + 1)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754880" y="3154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IP_FirstOctet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Premier bloc de l'adresse 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754880" y="37033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IP_IsPrivate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 privée (1) ou publique (0)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Heatmap de Corrélation — Suppression des Redondances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74320" y="1051560"/>
            <a:ext cx="5029200" cy="338328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577840" y="1051560"/>
            <a:ext cx="3383280" cy="3383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669293" y="1074443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9 Features supprimées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669280" y="1353323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UniqueInvoices ↔ Frequency (1.00)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669305" y="1652763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UniqueDescriptions ↔ UniqueProducts (1.00)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669305" y="1991091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CancelledTransactions ↔ NegQtyCount (1.00)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669305" y="2329419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MonetaryMax ↔ MonetaryStd (0.97)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669305" y="262886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MonetaryMin ↔ MonetaryStd (-0.97)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669305" y="293410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MinQuantity ↔ MaxQuantity (-0.96)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669280" y="325297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WeekendPreference ↔ WeekendRatio (0.92)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669280" y="3549056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MonetaryPerDay ↔ MonetaryTotal (0.96)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669280" y="3861097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TotalTransactions ↔ UniqueProducts (0.88)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651000" y="413765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52 features → 67 features finales 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051550"/>
            <a:ext cx="5010898" cy="3383301"/>
          </a:xfrm>
          <a:prstGeom prst="rect">
            <a:avLst/>
          </a:prstGeom>
          <a:solidFill>
            <a:srgbClr val="D0DCE8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Clustering avec K-Means: Approche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74320" y="1097280"/>
            <a:ext cx="2011680" cy="32918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77240" y="1280160"/>
            <a:ext cx="1005840" cy="640080"/>
          </a:xfrm>
          <a:prstGeom prst="ellipse">
            <a:avLst/>
          </a:prstGeom>
          <a:solidFill>
            <a:srgbClr val="2196C9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777240" y="129844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65760" y="2103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Méthode du Coude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65760" y="274320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Tester k=2 à k=10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k=4 optimal 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450592" y="1097280"/>
            <a:ext cx="2011680" cy="32918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2953512" y="1280160"/>
            <a:ext cx="1005840" cy="640080"/>
          </a:xfrm>
          <a:prstGeom prst="ellipse">
            <a:avLst/>
          </a:prstGeom>
          <a:solidFill>
            <a:srgbClr val="2196C9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2953512" y="129844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542032" y="2103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Suppression Outliers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542032" y="274320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Z-score &gt; 4 → supprimé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4372 → 3601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626864" y="1097280"/>
            <a:ext cx="2011680" cy="32918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129784" y="1280160"/>
            <a:ext cx="1005840" cy="640080"/>
          </a:xfrm>
          <a:prstGeom prst="ellipse">
            <a:avLst/>
          </a:prstGeom>
          <a:solidFill>
            <a:srgbClr val="2196C9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129784" y="129844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718304" y="2103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ACP 27 composantes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718304" y="274320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 features → 27 résumés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96.2% de variance gardée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803136" y="1097280"/>
            <a:ext cx="2011680" cy="32918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306056" y="1280160"/>
            <a:ext cx="1005840" cy="640080"/>
          </a:xfrm>
          <a:prstGeom prst="ellipse">
            <a:avLst/>
          </a:prstGeom>
          <a:solidFill>
            <a:srgbClr val="2196C9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306056" y="129844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894576" y="2103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K-Means k=4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894576" y="274320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3601 clients → 4 groupes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bien séparés et équilibrés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Clustering avec K-Means: Visualisation des Clusters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74320" y="1051560"/>
            <a:ext cx="8595360" cy="352044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[ Insérer capture : reports/clusters.png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75" y="1051550"/>
            <a:ext cx="8572500" cy="3520449"/>
          </a:xfrm>
          <a:prstGeom prst="rect">
            <a:avLst/>
          </a:prstGeom>
          <a:solidFill>
            <a:srgbClr val="D0DCE8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Clustering avec K-Means: Interprétation des Clusters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274320" y="1051560"/>
            <a:ext cx="457200" cy="7772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274320" y="12344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22960" y="12527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Clients Perdus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017520" y="125272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907 (25%)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480560" y="125272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227j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669280" y="125272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493£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040880" y="12527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Churn: 99.8%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274320" y="1920240"/>
            <a:ext cx="457200" cy="77724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274320" y="21031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22960" y="212140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Clients Champions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017520" y="212140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1167 (32%)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480560" y="212140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669280" y="212140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2736£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040880" y="212140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Churn: 4.0%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74320" y="2788920"/>
            <a:ext cx="8595360" cy="7772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274320" y="2788920"/>
            <a:ext cx="457200" cy="7772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274320" y="29718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822960" y="29900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Clients à Risque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017520" y="299008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426 (12%)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480560" y="299008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93j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669280" y="299008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772£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040880" y="299008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Churn: 35.7%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74320" y="3657600"/>
            <a:ext cx="8595360" cy="777240"/>
          </a:xfrm>
          <a:prstGeom prst="rect">
            <a:avLst/>
          </a:prstGeom>
          <a:solidFill>
            <a:srgbClr val="1B3A6B"/>
          </a:solidFill>
          <a:ln cap="flat" cmpd="sng" w="190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274320" y="3657600"/>
            <a:ext cx="457200" cy="77724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274320" y="38404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22960" y="38587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Clients Réguliers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017520" y="385876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1101 (31%)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480560" y="38587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43j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669280" y="385876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698£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040880" y="385876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Churn: 6.5%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Classification: Data Leakage — Problème Détecté et Corrigé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74320" y="1051560"/>
            <a:ext cx="8595360" cy="6400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Au départ : Accuracy = 100% → TROP PARFAIT → Data Leakage détecté 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274320" y="1828800"/>
            <a:ext cx="4114800" cy="2606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365760" y="1874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Colonnes supprimées (trichaient)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65760" y="228600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ChurnRiskCategory → dit directement le risque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365760" y="271576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AccountStatus_Closed → compte fermé = parti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65760" y="314553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CustomerType_Perdu → signifie parti 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365760" y="357530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Recency → corrélation 0.859 avec Churn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65760" y="400507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TenureRatio, CustomerTenureDays,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FirstPurchaseDaysAgo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663440" y="1828800"/>
            <a:ext cx="4206240" cy="2606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754880" y="18745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Résultat après correction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754880" y="228600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 features → 59 features propres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réaliste :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✓  Régression Logistique : 97.0%</a:t>
            </a:r>
            <a:br>
              <a:rPr b="0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✓  Random Forest : 99.4%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Classification: Comparaison des Modèles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12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{70DF725C-ECBD-4685-A784-79A9D2A3A350}</a:tableStyleId>
              </a:tblPr>
              <a:tblGrid>
                <a:gridCol w="2560325"/>
                <a:gridCol w="1097275"/>
                <a:gridCol w="1097275"/>
                <a:gridCol w="1645925"/>
                <a:gridCol w="1463050"/>
                <a:gridCol w="731525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Modèle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(churn)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(churn)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Régression Logistique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(Flask, 7 feat)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BB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12"/>
          <p:cNvSpPr/>
          <p:nvPr/>
        </p:nvSpPr>
        <p:spPr>
          <a:xfrm>
            <a:off x="274320" y="2880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GridSearchCV — Meilleurs Paramètres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274320" y="3246120"/>
            <a:ext cx="2743200" cy="11887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365760" y="3291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65760" y="3611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Testé : [100, 200]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65760" y="39136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Meilleur : 200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154680" y="3246120"/>
            <a:ext cx="2743200" cy="11887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246120" y="3291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246120" y="3611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Testé : [10, 20, None]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246120" y="39136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Meilleur :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035040" y="3246120"/>
            <a:ext cx="2743200" cy="11887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6126480" y="3291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min_samples_split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Testé : [2, 5]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126480" y="39136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Meilleur :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Classification: Matrice de Confusion &amp; Features Importantes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274320" y="1051560"/>
            <a:ext cx="4114800" cy="2743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663440" y="1051560"/>
            <a:ext cx="4206240" cy="2743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Feature la plus importante : PreferredMonth (~40%)  •  Le mois d'achat préféré prédit fortement le churn 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051550"/>
            <a:ext cx="4114800" cy="2743200"/>
          </a:xfrm>
          <a:prstGeom prst="rect">
            <a:avLst/>
          </a:prstGeom>
          <a:solidFill>
            <a:srgbClr val="D0DCE8"/>
          </a:solidFill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50" y="1051550"/>
            <a:ext cx="4206225" cy="2743200"/>
          </a:xfrm>
          <a:prstGeom prst="rect">
            <a:avLst/>
          </a:prstGeom>
          <a:solidFill>
            <a:srgbClr val="D0DCE8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029200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5285232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5541264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5797296" y="16459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6053328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6309360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6565392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821424" y="16459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27432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Régression: Prédiction des Revenus (MonetaryTotal)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274320" y="1051560"/>
            <a:ext cx="4114800" cy="3383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Préparation &amp;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365760" y="150876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Target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MonetaryTotal NON normalisé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Filtrage outliers 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0£ &lt; MonetaryTotal &lt; 20 000£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2964 clients normaux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8 Features (sans Data Leakage) :</a:t>
            </a:r>
            <a:br>
              <a:rPr b="1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Frequency, TotalQuantity, UniqueProducts,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Age, AvgDaysBetweenPurchases,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SupportTicketsCount, SatisfactionScore,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AvgQuantityPerTransaction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663440" y="1051560"/>
            <a:ext cx="4206240" cy="3383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Résultats des Modèles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Régression Linéaire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754880" y="19019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R² = 0.875   MAE = 350.5£   RMSE = 740.0£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4"/>
          <p:cNvCxnSpPr/>
          <p:nvPr/>
        </p:nvCxnSpPr>
        <p:spPr>
          <a:xfrm>
            <a:off x="4754880" y="226771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4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Random Forest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754880" y="32735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R² = 0.917   MAE = 234.1£   RMSE = 603.7£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4"/>
          <p:cNvCxnSpPr/>
          <p:nvPr/>
        </p:nvCxnSpPr>
        <p:spPr>
          <a:xfrm>
            <a:off x="4754880" y="363931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14"/>
          <p:cNvSpPr/>
          <p:nvPr/>
        </p:nvSpPr>
        <p:spPr>
          <a:xfrm>
            <a:off x="4754880" y="40690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Erreur moyenne : 31£ (quasi nulle) → pas de biais 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182880" y="91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5029200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5285232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5541264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5797296" y="155448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6053328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6309360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6565392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6821424" y="155448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POUR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C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196C9"/>
                </a:solidFill>
                <a:latin typeface="Calibri"/>
                <a:ea typeface="Calibri"/>
                <a:cs typeface="Calibri"/>
                <a:sym typeface="Calibri"/>
              </a:rPr>
              <a:t>Votre Attention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1828800" y="338328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219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Analyse Comportementale Clientèle Retail — Module GI2 — 2025-2026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4023360" y="482803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4279392" y="482803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4535424" y="482803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4791456" y="4828032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5047488" y="482803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303520" y="482803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5559552" y="482803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5815584" y="4828032"/>
            <a:ext cx="109728" cy="109728"/>
          </a:xfrm>
          <a:prstGeom prst="ellipse">
            <a:avLst/>
          </a:prstGeom>
          <a:solidFill>
            <a:srgbClr val="5BC4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2026-03-26T11:36:28Z</dcterms:created>
  <dc:creator>PptxGenJS</dc:creator>
</cp:coreProperties>
</file>